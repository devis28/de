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89" r:id="rId7"/>
    <p:sldId id="301" r:id="rId8"/>
    <p:sldId id="302" r:id="rId9"/>
    <p:sldId id="304" r:id="rId10"/>
    <p:sldId id="303" r:id="rId11"/>
    <p:sldId id="300" r:id="rId12"/>
    <p:sldId id="290" r:id="rId13"/>
    <p:sldId id="295" r:id="rId14"/>
    <p:sldId id="307" r:id="rId15"/>
    <p:sldId id="308" r:id="rId16"/>
    <p:sldId id="309" r:id="rId17"/>
    <p:sldId id="310" r:id="rId18"/>
    <p:sldId id="311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B3D8A-F575-B863-2B9C-972E0FC41A18}" v="269" dt="2025-12-15T11:48:43.132"/>
    <p1510:client id="{7AE8BD50-0735-83FD-5430-92DC656BE746}" v="5" dt="2025-12-15T12:38:29.674"/>
    <p1510:client id="{82FD075C-039F-D961-5D39-71A50ACF53AB}" v="340" dt="2025-12-15T10:48:49.558"/>
    <p1510:client id="{8B125110-36F8-D7AD-0102-DB1425EAD91F}" v="171" dt="2025-12-15T10:43:29.47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E31D-B65D-27E7-11D7-3844583C5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992A7-B7CD-FA30-2136-52578362A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1D8D7-6E60-E508-5D6E-8985C45E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369C9-343F-A9B0-BDFD-E53C69E1B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48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60D7-F3DE-AF7F-6BA5-E7904AB3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B9E53-D7BF-154F-70E2-A77A31030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0E552-FA9E-14E7-53D0-5794C73E1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356F5-7ECD-997A-D922-6F9EE495E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03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1FB46-CF43-9FB6-D3FD-B4A84C45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4F3A5-E8FF-5427-3B56-28FC01641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4076E-1473-2862-3FFE-8192C970F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D8BFC-39EE-6848-0285-374CB60EF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62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AF19E-C430-D928-37B8-31B19E5D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EDEE3-AED4-520E-E715-C7227CF5D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29762-3E36-72F0-2803-33C7A83DB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95B3F-E458-1567-F855-D51425CAA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49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E84E-7371-01D3-4D05-FAB036C6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D56B0-918E-10A9-362A-C70423B9E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5BBDE-CB10-1D97-D9DA-69260FC8B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2D736-AE2B-E336-AD88-244503463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89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72CA7-C761-2CCF-1F6B-263A2CB39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C6218-1404-5375-4EE3-4F967A56A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EA7CB-40FE-A771-EE3B-49AC4CD06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45B8C-A2EC-1A7B-CC74-E3BCF5D3F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32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FF1B8-49DD-8174-1098-C3AF16A5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98D0D-36C6-8CEC-C01F-8491641FC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81A42-A87C-B892-A5BB-2F7E5C5A0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54390-77CA-A4CF-1A44-D7C08BC2C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12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E4F8-7481-EDCF-72C3-1AF73666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EF25B-838E-12BB-13C1-BDC4D95C7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EF322-C36E-3CA7-BA94-5E347DF25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A3F34-D2DD-6BD5-C0EC-F1CE3ECF6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30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EF324-E8B2-CD4C-8CDD-BC3843A0E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52513-20FC-CB19-9259-C366B192D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3F20B-2707-5A76-EC61-B50427BC2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F11FB-A2CE-3A1F-061C-B87595743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95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6B18-B0B7-9F61-ED73-F5F728F9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CB718-A218-3CCB-A786-544477AEB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022CB-9E3D-01D7-C553-FD732F05E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F598B-AD86-F16C-BEB6-343992038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90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77117" y="6173787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54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7" r:id="rId7"/>
    <p:sldLayoutId id="2147483676" r:id="rId8"/>
    <p:sldLayoutId id="2147483661" r:id="rId9"/>
    <p:sldLayoutId id="2147483666" r:id="rId10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sk-SK"/>
              <a:t>Zadanie DataEng – rádio </a:t>
            </a:r>
            <a:r>
              <a:rPr lang="sk-SK" err="1"/>
              <a:t>Melody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F886D-DF38-4640-AC18-6A08F964BFEF}"/>
              </a:ext>
            </a:extLst>
          </p:cNvPr>
          <p:cNvSpPr txBox="1"/>
          <p:nvPr/>
        </p:nvSpPr>
        <p:spPr>
          <a:xfrm>
            <a:off x="2242457" y="5050971"/>
            <a:ext cx="43760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/>
              <a:t>Bc. Pavel Pálenik</a:t>
            </a:r>
          </a:p>
          <a:p>
            <a:r>
              <a:rPr lang="sk-SK" sz="2800"/>
              <a:t>Bc. Dávid </a:t>
            </a:r>
            <a:r>
              <a:rPr lang="sk-SK" sz="2800" err="1"/>
              <a:t>Teplan</a:t>
            </a:r>
            <a:endParaRPr lang="sk-SK" sz="2800"/>
          </a:p>
          <a:p>
            <a:r>
              <a:rPr lang="sk-SK" sz="2800"/>
              <a:t>Bc. Bernadeta Gajdošová</a:t>
            </a:r>
            <a:endParaRPr lang="en-US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AB79D-3B2B-3ED4-91DB-1E78FBB69590}"/>
              </a:ext>
            </a:extLst>
          </p:cNvPr>
          <p:cNvSpPr txBox="1"/>
          <p:nvPr/>
        </p:nvSpPr>
        <p:spPr>
          <a:xfrm>
            <a:off x="6618514" y="4866306"/>
            <a:ext cx="441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2400"/>
              <a:t>Technická Univerzita v Košiciach</a:t>
            </a:r>
          </a:p>
          <a:p>
            <a:pPr algn="r"/>
            <a:r>
              <a:rPr lang="sk-SK" sz="2400"/>
              <a:t>Fakulta elektrotechnika a informatiky</a:t>
            </a:r>
          </a:p>
          <a:p>
            <a:pPr algn="r"/>
            <a:r>
              <a:rPr lang="sk-SK" sz="2400"/>
              <a:t>2. novembra. 2024</a:t>
            </a:r>
            <a:endParaRPr lang="cs-CZ" sz="240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sk-SK"/>
              <a:t>Obsah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/>
              <a:t>Nazbierané dáta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err="1"/>
              <a:t>Datalake</a:t>
            </a:r>
            <a:endParaRPr lang="sk-SK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/>
              <a:t>Informačný balíček a STAR schéma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/>
              <a:t>Obohatenie záznamov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/>
              <a:t>Databáza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/>
              <a:t>Výsledky - SELECT-y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C5DA9-3783-C0CC-E044-610C379AB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77117" y="6226339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z="4000" dirty="0" smtClean="0"/>
              <a:pPr/>
              <a:t>2</a:t>
            </a:fld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sk-SK"/>
              <a:t>Nazbierané dáta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sk-SK"/>
              <a:t>Počet rádií: 6</a:t>
            </a:r>
          </a:p>
          <a:p>
            <a:pPr indent="-283210"/>
            <a:r>
              <a:rPr lang="sk-SK"/>
              <a:t>Oficiálny ber dát: od 29.10.2025 do 1.12.2025 = 34 dní</a:t>
            </a:r>
            <a:endParaRPr lang="en-US"/>
          </a:p>
          <a:p>
            <a:pPr indent="-283210"/>
            <a:r>
              <a:rPr lang="sk-SK"/>
              <a:t>Celkový počet súborov v </a:t>
            </a:r>
            <a:r>
              <a:rPr lang="sk-SK" err="1"/>
              <a:t>datalake</a:t>
            </a:r>
            <a:r>
              <a:rPr lang="sk-SK"/>
              <a:t>-u: 714</a:t>
            </a:r>
          </a:p>
          <a:p>
            <a:pPr indent="-283210"/>
            <a:r>
              <a:rPr lang="sk-SK"/>
              <a:t>Celkový počet záznamov zo všetkých rádií: 846 646</a:t>
            </a:r>
          </a:p>
          <a:p>
            <a:pPr indent="-283210"/>
            <a:r>
              <a:rPr lang="sk-SK"/>
              <a:t>Z toho z rádia </a:t>
            </a:r>
            <a:r>
              <a:rPr lang="sk-SK" err="1"/>
              <a:t>Melody</a:t>
            </a:r>
            <a:r>
              <a:rPr lang="sk-SK"/>
              <a:t>: </a:t>
            </a:r>
            <a:r>
              <a:rPr lang="en-US"/>
              <a:t>87</a:t>
            </a:r>
            <a:r>
              <a:rPr lang="sk-SK"/>
              <a:t> </a:t>
            </a:r>
            <a:r>
              <a:rPr lang="en-US"/>
              <a:t>379</a:t>
            </a:r>
            <a:r>
              <a:rPr lang="sk-SK"/>
              <a:t> záznamov</a:t>
            </a:r>
          </a:p>
          <a:p>
            <a:pPr indent="-283210"/>
            <a:endParaRPr lang="sk-SK"/>
          </a:p>
          <a:p>
            <a:pPr indent="-283210"/>
            <a:r>
              <a:rPr lang="sk-SK"/>
              <a:t>Spôsob zberu: cez </a:t>
            </a:r>
            <a:r>
              <a:rPr lang="sk-SK" err="1"/>
              <a:t>DigitalOcean</a:t>
            </a:r>
            <a:endParaRPr lang="sk-SK"/>
          </a:p>
          <a:p>
            <a:pPr indent="-283210"/>
            <a:r>
              <a:rPr lang="sk-SK"/>
              <a:t>Ukladanie: vo forme JSON súborov</a:t>
            </a:r>
          </a:p>
          <a:p>
            <a:pPr indent="-283210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EB20BF-FEE3-8ABE-D2F1-0550EF20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z="4000" dirty="0">
                <a:solidFill>
                  <a:srgbClr val="637183"/>
                </a:solidFill>
              </a:rPr>
              <a:pPr/>
              <a:t>3</a:t>
            </a:fld>
            <a:endParaRPr lang="en-US" sz="4000">
              <a:solidFill>
                <a:srgbClr val="6371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3898F-2DD0-71E9-B98F-A05C692BA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44725-CD94-82BD-FBFB-648FCF36B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sk-SK" err="1"/>
              <a:t>Datalake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D5D65-9B19-3D15-6E7E-C316573AE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46974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3210" lvl="1" indent="-283210"/>
            <a:r>
              <a:rPr lang="sk-SK"/>
              <a:t>Ťahanie dát z rádií </a:t>
            </a:r>
            <a:r>
              <a:rPr lang="sk-SK" err="1"/>
              <a:t>prostr</a:t>
            </a:r>
            <a:r>
              <a:rPr lang="sk-SK"/>
              <a:t>. </a:t>
            </a:r>
            <a:r>
              <a:rPr lang="sk-SK" b="1" err="1"/>
              <a:t>DigitalOcean</a:t>
            </a:r>
            <a:endParaRPr lang="sk-SK" b="1"/>
          </a:p>
          <a:p>
            <a:pPr marL="283210" lvl="1" indent="-283210"/>
            <a:r>
              <a:rPr lang="sk-SK"/>
              <a:t>Pokus ťahania každých 30 sekúnd</a:t>
            </a:r>
          </a:p>
          <a:p>
            <a:pPr marL="283210" lvl="1" indent="-283210"/>
            <a:r>
              <a:rPr lang="sk-SK"/>
              <a:t>„</a:t>
            </a:r>
            <a:r>
              <a:rPr lang="sk-SK" err="1"/>
              <a:t>cases</a:t>
            </a:r>
            <a:r>
              <a:rPr lang="sk-SK"/>
              <a:t>“ pre rovnakú pieseň pri zaznamenávaní skladieb</a:t>
            </a:r>
          </a:p>
          <a:p>
            <a:pPr marL="283210" lvl="1" indent="-283210"/>
            <a:r>
              <a:rPr lang="sk-SK"/>
              <a:t>Každé 2 hodiny sa následne exportovali záznamy do JSON súborov na skladovaciu </a:t>
            </a:r>
            <a:r>
              <a:rPr lang="sk-SK" err="1"/>
              <a:t>Cloud</a:t>
            </a:r>
            <a:r>
              <a:rPr lang="sk-SK"/>
              <a:t> službu</a:t>
            </a:r>
          </a:p>
          <a:p>
            <a:pPr marL="283210" lvl="1" indent="-283210"/>
            <a:r>
              <a:rPr lang="sk-SK"/>
              <a:t>Skladovanie cez službu </a:t>
            </a:r>
            <a:r>
              <a:rPr lang="sk-SK" b="1" err="1"/>
              <a:t>Cloudflare</a:t>
            </a:r>
            <a:r>
              <a:rPr lang="sk-SK" b="1"/>
              <a:t> </a:t>
            </a:r>
            <a:r>
              <a:rPr lang="cs-CZ" b="1"/>
              <a:t>R2 </a:t>
            </a:r>
            <a:r>
              <a:rPr lang="cs-CZ" b="1" err="1"/>
              <a:t>Object</a:t>
            </a:r>
            <a:r>
              <a:rPr lang="cs-CZ" b="1"/>
              <a:t> </a:t>
            </a:r>
            <a:r>
              <a:rPr lang="cs-CZ" b="1" err="1"/>
              <a:t>Storage</a:t>
            </a:r>
            <a:endParaRPr lang="cs-CZ" b="1"/>
          </a:p>
          <a:p>
            <a:pPr marL="283210" lvl="1" indent="-283210"/>
            <a:r>
              <a:rPr lang="cs-CZ" err="1"/>
              <a:t>Nakoniec</a:t>
            </a:r>
            <a:r>
              <a:rPr lang="cs-CZ"/>
              <a:t> </a:t>
            </a:r>
            <a:r>
              <a:rPr lang="cs-CZ" err="1"/>
              <a:t>všetko</a:t>
            </a:r>
            <a:r>
              <a:rPr lang="cs-CZ"/>
              <a:t> uložené na </a:t>
            </a:r>
            <a:r>
              <a:rPr lang="cs-CZ" b="1"/>
              <a:t>GitHub-e</a:t>
            </a:r>
          </a:p>
          <a:p>
            <a:pPr marL="283210" lvl="1" indent="-283210"/>
            <a:r>
              <a:rPr lang="sk-SK"/>
              <a:t>https://github.com/Devis28/DE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0B01E4D-A266-0058-B833-1AB3F7DA5DE3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/>
              <a:t>4</a:t>
            </a:r>
          </a:p>
        </p:txBody>
      </p:sp>
      <p:pic>
        <p:nvPicPr>
          <p:cNvPr id="4" name="Obrázok 3" descr="Obrázok, na ktorom je text, grafika, písmo, grafický dizajn&#10;&#10;Obsah vygenerovaný pomocou AI môže byť nesprávny.">
            <a:extLst>
              <a:ext uri="{FF2B5EF4-FFF2-40B4-BE49-F238E27FC236}">
                <a16:creationId xmlns:a16="http://schemas.microsoft.com/office/drawing/2014/main" id="{92263F45-35DF-1AD8-993A-3899FCB4F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908" y="1197030"/>
            <a:ext cx="3591910" cy="1179458"/>
          </a:xfrm>
          <a:prstGeom prst="rect">
            <a:avLst/>
          </a:prstGeom>
        </p:spPr>
      </p:pic>
      <p:pic>
        <p:nvPicPr>
          <p:cNvPr id="8" name="Obrázok 7" descr="Obrázok, na ktorom je písmo, grafika, logo, snímka obrazovky&#10;&#10;Obsah vygenerovaný pomocou AI môže byť nesprávny.">
            <a:extLst>
              <a:ext uri="{FF2B5EF4-FFF2-40B4-BE49-F238E27FC236}">
                <a16:creationId xmlns:a16="http://schemas.microsoft.com/office/drawing/2014/main" id="{67B94531-EC97-823E-AADD-E6C86F9E3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353" y="2703129"/>
            <a:ext cx="2607880" cy="260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72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862B8-F62E-C741-EAA1-FB5DBABE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524D9B-D6A6-92BD-11E6-CD0B4B7A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sk-SK"/>
              <a:t>Informačný balíček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67392-4BC4-CE16-14DA-73AAAC37A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163379" cy="3332832"/>
          </a:xfrm>
        </p:spPr>
        <p:txBody>
          <a:bodyPr/>
          <a:lstStyle/>
          <a:p>
            <a:pPr marL="0" lvl="1" indent="0">
              <a:buNone/>
            </a:pPr>
            <a:r>
              <a:rPr lang="sk-SK"/>
              <a:t>Informačný balíček:</a:t>
            </a:r>
          </a:p>
          <a:p>
            <a:pPr lvl="1"/>
            <a:r>
              <a:rPr lang="sk-SK"/>
              <a:t>3 dimenzie</a:t>
            </a:r>
          </a:p>
          <a:p>
            <a:pPr lvl="1"/>
            <a:r>
              <a:rPr lang="sk-SK"/>
              <a:t>Fakt: moment, v ktorom X pieseň </a:t>
            </a:r>
            <a:r>
              <a:rPr lang="sk-SK" err="1"/>
              <a:t>hraje</a:t>
            </a:r>
            <a:r>
              <a:rPr lang="sk-SK"/>
              <a:t> na Y stanici v Z čase</a:t>
            </a:r>
          </a:p>
          <a:p>
            <a:pPr lvl="1"/>
            <a:r>
              <a:rPr lang="sk-SK"/>
              <a:t>Nazvali sme „</a:t>
            </a:r>
            <a:r>
              <a:rPr lang="sk-SK" err="1"/>
              <a:t>play_session</a:t>
            </a:r>
            <a:r>
              <a:rPr lang="sk-SK"/>
              <a:t>“</a:t>
            </a:r>
          </a:p>
          <a:p>
            <a:pPr lvl="1"/>
            <a:r>
              <a:rPr lang="sk-SK"/>
              <a:t>Existuje viac </a:t>
            </a:r>
            <a:r>
              <a:rPr lang="sk-SK" err="1"/>
              <a:t>play_session-ov</a:t>
            </a:r>
            <a:r>
              <a:rPr lang="sk-SK"/>
              <a:t> pre jednu XYZ skladbu! (líši sa počúvanosť)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67F2C2-A45C-1322-E57D-D5C5E0ECC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749919"/>
              </p:ext>
            </p:extLst>
          </p:nvPr>
        </p:nvGraphicFramePr>
        <p:xfrm>
          <a:off x="5330872" y="2023984"/>
          <a:ext cx="5437820" cy="3400641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816818">
                  <a:extLst>
                    <a:ext uri="{9D8B030D-6E8A-4147-A177-3AD203B41FA5}">
                      <a16:colId xmlns:a16="http://schemas.microsoft.com/office/drawing/2014/main" val="3057465581"/>
                    </a:ext>
                  </a:extLst>
                </a:gridCol>
                <a:gridCol w="1908195">
                  <a:extLst>
                    <a:ext uri="{9D8B030D-6E8A-4147-A177-3AD203B41FA5}">
                      <a16:colId xmlns:a16="http://schemas.microsoft.com/office/drawing/2014/main" val="490244597"/>
                    </a:ext>
                  </a:extLst>
                </a:gridCol>
                <a:gridCol w="1712807">
                  <a:extLst>
                    <a:ext uri="{9D8B030D-6E8A-4147-A177-3AD203B41FA5}">
                      <a16:colId xmlns:a16="http://schemas.microsoft.com/office/drawing/2014/main" val="2923962912"/>
                    </a:ext>
                  </a:extLst>
                </a:gridCol>
              </a:tblGrid>
              <a:tr h="308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Song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Radio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Time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extLst>
                  <a:ext uri="{0D108BD9-81ED-4DB2-BD59-A6C34878D82A}">
                    <a16:rowId xmlns:a16="http://schemas.microsoft.com/office/drawing/2014/main" val="4163233686"/>
                  </a:ext>
                </a:extLst>
              </a:tr>
              <a:tr h="308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b="0" kern="100">
                          <a:effectLst/>
                        </a:rPr>
                        <a:t>Title</a:t>
                      </a:r>
                      <a:endParaRPr lang="en-US" sz="1900" b="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Name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Date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extLst>
                  <a:ext uri="{0D108BD9-81ED-4DB2-BD59-A6C34878D82A}">
                    <a16:rowId xmlns:a16="http://schemas.microsoft.com/office/drawing/2014/main" val="1291962074"/>
                  </a:ext>
                </a:extLst>
              </a:tr>
              <a:tr h="308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b="0" kern="100">
                          <a:effectLst/>
                        </a:rPr>
                        <a:t>List of artists</a:t>
                      </a:r>
                      <a:endParaRPr lang="en-US" sz="1900" b="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Headquarters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Hour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extLst>
                  <a:ext uri="{0D108BD9-81ED-4DB2-BD59-A6C34878D82A}">
                    <a16:rowId xmlns:a16="http://schemas.microsoft.com/office/drawing/2014/main" val="3353107471"/>
                  </a:ext>
                </a:extLst>
              </a:tr>
              <a:tr h="308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b="0" kern="100">
                          <a:effectLst/>
                        </a:rPr>
                        <a:t>Genre</a:t>
                      </a:r>
                      <a:endParaRPr lang="en-US" sz="1900" b="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Genre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Minute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extLst>
                  <a:ext uri="{0D108BD9-81ED-4DB2-BD59-A6C34878D82A}">
                    <a16:rowId xmlns:a16="http://schemas.microsoft.com/office/drawing/2014/main" val="3764293848"/>
                  </a:ext>
                </a:extLst>
              </a:tr>
              <a:tr h="308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 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 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Second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extLst>
                  <a:ext uri="{0D108BD9-81ED-4DB2-BD59-A6C34878D82A}">
                    <a16:rowId xmlns:a16="http://schemas.microsoft.com/office/drawing/2014/main" val="590216932"/>
                  </a:ext>
                </a:extLst>
              </a:tr>
              <a:tr h="308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662940" algn="l"/>
                        </a:tabLst>
                      </a:pPr>
                      <a:r>
                        <a:rPr lang="en-US" sz="1900" kern="100">
                          <a:effectLst/>
                        </a:rPr>
                        <a:t> 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 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Day of Week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extLst>
                  <a:ext uri="{0D108BD9-81ED-4DB2-BD59-A6C34878D82A}">
                    <a16:rowId xmlns:a16="http://schemas.microsoft.com/office/drawing/2014/main" val="3142878365"/>
                  </a:ext>
                </a:extLst>
              </a:tr>
              <a:tr h="308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 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 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 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984" marR="104984" marT="0" marB="0"/>
                </a:tc>
                <a:extLst>
                  <a:ext uri="{0D108BD9-81ED-4DB2-BD59-A6C34878D82A}">
                    <a16:rowId xmlns:a16="http://schemas.microsoft.com/office/drawing/2014/main" val="1355421434"/>
                  </a:ext>
                </a:extLst>
              </a:tr>
              <a:tr h="444128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Facts: listener count, play duration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2542" marR="122542" marT="61271" marB="6127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519173"/>
                  </a:ext>
                </a:extLst>
              </a:tr>
              <a:tr h="768236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What happened? A song was played on a radio station</a:t>
                      </a:r>
                      <a:endParaRPr lang="en-US" sz="1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2542" marR="122542" marT="61271" marB="6127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081438"/>
                  </a:ext>
                </a:extLst>
              </a:tr>
            </a:tbl>
          </a:graphicData>
        </a:graphic>
      </p:graphicFrame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375CC31-44C0-1686-000B-7DAA5DFB01F3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/>
              <a:t>5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322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68F93-33DF-CCF3-3D93-C3AA9437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BE3B7D-76A6-9548-36B5-55168B80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sk-SK"/>
              <a:t>STAR Schéma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73430-F479-FE67-13D1-9CDD1EA7F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3"/>
            <a:ext cx="4340181" cy="4139201"/>
          </a:xfrm>
        </p:spPr>
        <p:txBody>
          <a:bodyPr/>
          <a:lstStyle/>
          <a:p>
            <a:pPr lvl="1"/>
            <a:r>
              <a:rPr lang="sk-SK"/>
              <a:t>Vytvorená z informačného balíčka</a:t>
            </a:r>
          </a:p>
          <a:p>
            <a:pPr lvl="1"/>
            <a:r>
              <a:rPr lang="sk-SK"/>
              <a:t>Všetko ostalo rovnaké</a:t>
            </a:r>
          </a:p>
          <a:p>
            <a:pPr lvl="1"/>
            <a:endParaRPr lang="sk-SK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4E91A-9E8B-FD9D-5FFA-997944E10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674" y="729343"/>
            <a:ext cx="5123858" cy="5433842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D93D00-367D-E947-5823-328EDD023829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/>
              <a:t>6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0162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94965-E13A-EBF7-5B73-7D5692E8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1F4ED2-6E76-1C84-D1DB-0A7000D9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1" y="136526"/>
            <a:ext cx="5078185" cy="1653371"/>
          </a:xfrm>
        </p:spPr>
        <p:txBody>
          <a:bodyPr/>
          <a:lstStyle/>
          <a:p>
            <a:r>
              <a:rPr lang="sk-SK"/>
              <a:t>Štruktúra záznamov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22B19-B47E-1EAD-E8B2-03F405D47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/>
          <a:lstStyle/>
          <a:p>
            <a:pPr lvl="1"/>
            <a:r>
              <a:rPr lang="sk-SK"/>
              <a:t>Originálny záznam piesne napravo</a:t>
            </a:r>
          </a:p>
          <a:p>
            <a:pPr lvl="1"/>
            <a:r>
              <a:rPr lang="sk-SK"/>
              <a:t>Záznam počúvanosti naľavo</a:t>
            </a:r>
            <a:endParaRPr lang="cs-CZ"/>
          </a:p>
          <a:p>
            <a:pPr lvl="1"/>
            <a:endParaRPr lang="sk-SK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59EB5-D196-F4F1-B6B8-0D117FB59D5A}"/>
              </a:ext>
            </a:extLst>
          </p:cNvPr>
          <p:cNvSpPr txBox="1"/>
          <p:nvPr/>
        </p:nvSpPr>
        <p:spPr>
          <a:xfrm>
            <a:off x="6245677" y="828038"/>
            <a:ext cx="6096000" cy="4236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{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"station"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rgbClr val="CE9178"/>
                </a:solidFill>
                <a:effectLst/>
                <a:latin typeface="Consolas"/>
              </a:rPr>
              <a:t>Rádio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 Melody"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"title"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"The Power Of Love"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"artist"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"Aplin Gabrielle"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"date"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"01.12.2025"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"time"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"01:48"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last_update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"01.12.2025 01:49:33"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recorded_at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"2025-12-01T01:49:33.830316+01:00"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raw_valid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569CD6"/>
                </a:solidFill>
                <a:effectLst/>
                <a:latin typeface="Consolas"/>
              </a:rPr>
              <a:t>true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song_session_id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"15242df4-8246-4686-b7e7-5ac033cd7b2f„</a:t>
            </a:r>
            <a:endParaRPr lang="sk-SK" b="0">
              <a:solidFill>
                <a:srgbClr val="CE9178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4DB96-B9AF-B834-DA4E-FD2BF339C2F3}"/>
              </a:ext>
            </a:extLst>
          </p:cNvPr>
          <p:cNvSpPr txBox="1"/>
          <p:nvPr/>
        </p:nvSpPr>
        <p:spPr>
          <a:xfrm>
            <a:off x="451213" y="3135377"/>
            <a:ext cx="6096000" cy="26203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1425"/>
              </a:lnSpc>
            </a:pP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{</a:t>
            </a:r>
            <a:endParaRPr lang="sk-SK"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 err="1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last_update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: </a:t>
            </a:r>
            <a:r>
              <a:rPr lang="en-US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"01.12.2025 01:45:57"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sk-SK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endParaRPr lang="en-US">
              <a:solidFill>
                <a:schemeClr val="accent1">
                  <a:lumMod val="76000"/>
                </a:schemeClr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    "listeners"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: </a:t>
            </a:r>
            <a:r>
              <a:rPr lang="en-US">
                <a:solidFill>
                  <a:srgbClr val="B5CEA8"/>
                </a:solidFill>
                <a:latin typeface="Consolas"/>
                <a:ea typeface="+mn-lt"/>
                <a:cs typeface="+mn-lt"/>
              </a:rPr>
              <a:t>186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sk-SK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endParaRPr lang="en-US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 err="1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recorded_at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: </a:t>
            </a:r>
            <a:r>
              <a:rPr lang="en-US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"2025-12-01T01:49:12.813973+01:00"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sk-SK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endParaRPr lang="en-US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 err="1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raw_valid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: </a:t>
            </a:r>
            <a:r>
              <a:rPr lang="en-US">
                <a:solidFill>
                  <a:srgbClr val="569CD6"/>
                </a:solidFill>
                <a:latin typeface="Consolas"/>
                <a:ea typeface="+mn-lt"/>
                <a:cs typeface="+mn-lt"/>
              </a:rPr>
              <a:t>true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,</a:t>
            </a:r>
            <a:endParaRPr lang="sk-SK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endParaRPr lang="en-US">
              <a:solidFill>
                <a:srgbClr val="CCCCCC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 err="1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song_session_id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"</a:t>
            </a: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: </a:t>
            </a:r>
            <a:r>
              <a:rPr lang="en-US">
                <a:solidFill>
                  <a:srgbClr val="CE9178"/>
                </a:solidFill>
                <a:latin typeface="Consolas"/>
                <a:ea typeface="+mn-lt"/>
                <a:cs typeface="+mn-lt"/>
              </a:rPr>
              <a:t>"118141c2-4d49-4383-bc88-8d8fdac4bd27„</a:t>
            </a:r>
            <a:endParaRPr lang="sk-SK">
              <a:solidFill>
                <a:srgbClr val="CE9178"/>
              </a:solidFill>
              <a:latin typeface="Consolas"/>
              <a:ea typeface="+mn-lt"/>
              <a:cs typeface="+mn-lt"/>
            </a:endParaRPr>
          </a:p>
          <a:p>
            <a:pPr>
              <a:lnSpc>
                <a:spcPts val="1425"/>
              </a:lnSpc>
            </a:pPr>
            <a:endParaRPr lang="en-US">
              <a:solidFill>
                <a:srgbClr val="CCCCCC"/>
              </a:solidFill>
              <a:latin typeface="Consolas"/>
            </a:endParaRPr>
          </a:p>
          <a:p>
            <a:pPr>
              <a:lnSpc>
                <a:spcPts val="1425"/>
              </a:lnSpc>
            </a:pPr>
            <a:r>
              <a:rPr lang="en-US">
                <a:solidFill>
                  <a:srgbClr val="CCCCCC"/>
                </a:solidFill>
                <a:latin typeface="Consolas"/>
                <a:ea typeface="+mn-lt"/>
                <a:cs typeface="+mn-lt"/>
              </a:rPr>
              <a:t>  }</a:t>
            </a:r>
            <a:endParaRPr lang="en-US">
              <a:latin typeface="Consolas"/>
              <a:ea typeface="+mn-lt"/>
              <a:cs typeface="+mn-lt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11856F9-6E49-5FCD-37A8-2356757F219B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08598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493B-1B5A-32F0-E2FD-875E5838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B1B92B-C9DF-2244-94F1-A3A5DBF1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4547506" cy="1653371"/>
          </a:xfrm>
        </p:spPr>
        <p:txBody>
          <a:bodyPr/>
          <a:lstStyle/>
          <a:p>
            <a:r>
              <a:rPr lang="sk-SK"/>
              <a:t>Obohatenie záznamov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3805-FA83-1F25-613C-1F542282E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547506" cy="3332832"/>
          </a:xfrm>
        </p:spPr>
        <p:txBody>
          <a:bodyPr/>
          <a:lstStyle/>
          <a:p>
            <a:r>
              <a:rPr lang="sk-SK"/>
              <a:t>Z dôvodu, že rádio stanice neposkytovali všetko, čo by sme chceli, obohacovali sme záznamy dodatočnými informáciami: </a:t>
            </a:r>
            <a:endParaRPr lang="en-US"/>
          </a:p>
          <a:p>
            <a:pPr lvl="1"/>
            <a:r>
              <a:rPr lang="sk-SK" b="1" err="1"/>
              <a:t>duration</a:t>
            </a:r>
            <a:r>
              <a:rPr lang="sk-SK" b="1"/>
              <a:t> </a:t>
            </a:r>
            <a:r>
              <a:rPr lang="sk-SK"/>
              <a:t>– dĺžka skladby v sekundách</a:t>
            </a:r>
            <a:endParaRPr lang="en-US"/>
          </a:p>
          <a:p>
            <a:pPr lvl="1"/>
            <a:r>
              <a:rPr lang="sk-SK" b="1" err="1"/>
              <a:t>genre</a:t>
            </a:r>
            <a:r>
              <a:rPr lang="sk-SK"/>
              <a:t> – žáner piesne</a:t>
            </a:r>
          </a:p>
          <a:p>
            <a:pPr lvl="1"/>
            <a:r>
              <a:rPr lang="sk-SK" b="1" err="1"/>
              <a:t>release_year</a:t>
            </a:r>
            <a:r>
              <a:rPr lang="sk-SK"/>
              <a:t> – rok vydania piesne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89E5E-61D4-3826-58C6-A1DDE0C564D3}"/>
              </a:ext>
            </a:extLst>
          </p:cNvPr>
          <p:cNvSpPr txBox="1"/>
          <p:nvPr/>
        </p:nvSpPr>
        <p:spPr>
          <a:xfrm>
            <a:off x="5714999" y="439590"/>
            <a:ext cx="6096000" cy="54929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"station"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rgbClr val="CE9178"/>
                </a:solidFill>
                <a:effectLst/>
                <a:latin typeface="Consolas"/>
              </a:rPr>
              <a:t>Rádio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 Melody"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"title"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"A Spaceman Came Travelling"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"artist"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"De Burgh, Chris"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"date"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"01.12.2025"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"time"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"02:01"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last_update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"01.12.2025 02:02:10"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recorded_at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"2025-12-01T02:02:10.337574+01:00"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raw_valid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569CD6"/>
                </a:solidFill>
                <a:effectLst/>
                <a:latin typeface="Consolas"/>
              </a:rPr>
              <a:t>true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 err="1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song_session_id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"ddae9bab-b32c-42ea-8e06-601486d75ae5"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"duration"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</a:t>
            </a:r>
            <a:r>
              <a:rPr lang="en-US" b="0">
                <a:solidFill>
                  <a:srgbClr val="B5CEA8"/>
                </a:solidFill>
                <a:effectLst/>
                <a:latin typeface="Consolas"/>
              </a:rPr>
              <a:t>30</a:t>
            </a:r>
            <a:r>
              <a:rPr lang="sk-SK" b="0">
                <a:solidFill>
                  <a:srgbClr val="B5CEA8"/>
                </a:solidFill>
                <a:effectLst/>
                <a:latin typeface="Consolas"/>
              </a:rPr>
              <a:t>8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,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</a:t>
            </a:r>
            <a:r>
              <a:rPr lang="en-US" b="0">
                <a:solidFill>
                  <a:schemeClr val="accent1">
                    <a:lumMod val="76000"/>
                  </a:schemeClr>
                </a:solidFill>
                <a:effectLst/>
                <a:latin typeface="Consolas"/>
              </a:rPr>
              <a:t>"genre"</a:t>
            </a: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  </a:t>
            </a:r>
            <a:r>
              <a:rPr lang="en-US" b="0">
                <a:solidFill>
                  <a:srgbClr val="CE9178"/>
                </a:solidFill>
                <a:effectLst/>
                <a:latin typeface="Consolas"/>
              </a:rPr>
              <a:t>"soft rock"</a:t>
            </a:r>
            <a:endParaRPr lang="en-US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  ]</a:t>
            </a:r>
            <a:r>
              <a:rPr lang="sk-SK" b="0">
                <a:solidFill>
                  <a:srgbClr val="CCCCCC"/>
                </a:solidFill>
                <a:effectLst/>
                <a:latin typeface="Consolas"/>
              </a:rPr>
              <a:t>,</a:t>
            </a:r>
          </a:p>
          <a:p>
            <a:pPr>
              <a:lnSpc>
                <a:spcPts val="1425"/>
              </a:lnSpc>
              <a:buNone/>
            </a:pPr>
            <a:endParaRPr lang="sk-SK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sk-SK" b="0">
                <a:solidFill>
                  <a:srgbClr val="CCCCCC"/>
                </a:solidFill>
                <a:effectLst/>
                <a:latin typeface="Consolas"/>
              </a:rPr>
              <a:t>    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</a:rPr>
              <a:t>"</a:t>
            </a:r>
            <a:r>
              <a:rPr lang="sk-SK" err="1">
                <a:solidFill>
                  <a:schemeClr val="accent1">
                    <a:lumMod val="76000"/>
                  </a:schemeClr>
                </a:solidFill>
                <a:latin typeface="Consolas"/>
              </a:rPr>
              <a:t>release_year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nsolas"/>
              </a:rPr>
              <a:t>"</a:t>
            </a:r>
            <a:r>
              <a:rPr lang="en-US">
                <a:solidFill>
                  <a:srgbClr val="CCCCCC"/>
                </a:solidFill>
                <a:latin typeface="Consolas"/>
              </a:rPr>
              <a:t>: </a:t>
            </a:r>
            <a:r>
              <a:rPr lang="sk-SK">
                <a:solidFill>
                  <a:srgbClr val="B5CEA8"/>
                </a:solidFill>
                <a:latin typeface="Consolas"/>
              </a:rPr>
              <a:t>1975</a:t>
            </a:r>
            <a:endParaRPr lang="sk-SK" b="0">
              <a:solidFill>
                <a:srgbClr val="CCCCCC"/>
              </a:solidFill>
              <a:effectLst/>
              <a:latin typeface="Consolas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/>
              </a:rPr>
              <a:t>  }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54E99BF-3CFE-70B7-0D4E-96D9709AC712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74019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 descr="Obrázok, na ktorom je text, snímka obrazovky, číslo, písmo&#10;&#10;Obsah vygenerovaný pomocou AI môže byť nesprávny.">
            <a:extLst>
              <a:ext uri="{FF2B5EF4-FFF2-40B4-BE49-F238E27FC236}">
                <a16:creationId xmlns:a16="http://schemas.microsoft.com/office/drawing/2014/main" id="{9475E313-0A65-03C1-1C6D-7CFB4E70D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518" y="892931"/>
            <a:ext cx="6105523" cy="467185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/>
              <a:t>Databáza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072233" cy="3332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Po </a:t>
            </a:r>
            <a:r>
              <a:rPr lang="en-US" err="1"/>
              <a:t>niekoľkých</a:t>
            </a:r>
            <a:r>
              <a:rPr lang="en-US"/>
              <a:t> </a:t>
            </a:r>
            <a:r>
              <a:rPr lang="en-US" err="1"/>
              <a:t>úpravách</a:t>
            </a:r>
            <a:r>
              <a:rPr lang="en-US"/>
              <a:t> </a:t>
            </a:r>
            <a:r>
              <a:rPr lang="en-US" err="1"/>
              <a:t>nášho</a:t>
            </a:r>
            <a:r>
              <a:rPr lang="en-US"/>
              <a:t> ER </a:t>
            </a:r>
            <a:r>
              <a:rPr lang="en-US" err="1"/>
              <a:t>diagramu</a:t>
            </a:r>
            <a:r>
              <a:rPr lang="en-US"/>
              <a:t> je toto </a:t>
            </a:r>
            <a:r>
              <a:rPr lang="en-US" err="1"/>
              <a:t>náš</a:t>
            </a:r>
            <a:r>
              <a:rPr lang="en-US"/>
              <a:t> </a:t>
            </a:r>
            <a:r>
              <a:rPr lang="en-US" err="1"/>
              <a:t>finálny</a:t>
            </a:r>
            <a:r>
              <a:rPr lang="en-US"/>
              <a:t> </a:t>
            </a:r>
            <a:r>
              <a:rPr lang="en-US" err="1"/>
              <a:t>návrh</a:t>
            </a:r>
            <a:endParaRPr lang="en-US"/>
          </a:p>
          <a:p>
            <a:endParaRPr lang="en-US"/>
          </a:p>
          <a:p>
            <a:r>
              <a:rPr lang="en-US" err="1">
                <a:latin typeface="Tenorite"/>
                <a:cs typeface="Times New Roman"/>
              </a:rPr>
              <a:t>Vzťahy</a:t>
            </a:r>
            <a:r>
              <a:rPr lang="en-US">
                <a:latin typeface="Tenorite"/>
                <a:cs typeface="Times New Roman"/>
              </a:rPr>
              <a:t> </a:t>
            </a:r>
            <a:r>
              <a:rPr lang="en-US" err="1">
                <a:latin typeface="Tenorite"/>
                <a:cs typeface="Times New Roman"/>
              </a:rPr>
              <a:t>medzi</a:t>
            </a:r>
            <a:r>
              <a:rPr lang="en-US">
                <a:latin typeface="Tenorite"/>
                <a:cs typeface="Times New Roman"/>
              </a:rPr>
              <a:t> </a:t>
            </a:r>
            <a:r>
              <a:rPr lang="en-US" err="1">
                <a:latin typeface="Tenorite"/>
                <a:cs typeface="Times New Roman"/>
              </a:rPr>
              <a:t>entitami</a:t>
            </a:r>
            <a:r>
              <a:rPr lang="en-US">
                <a:latin typeface="Tenorite"/>
                <a:cs typeface="Times New Roman"/>
              </a:rPr>
              <a:t> </a:t>
            </a:r>
            <a:r>
              <a:rPr lang="en-US" err="1">
                <a:latin typeface="Tenorite"/>
                <a:cs typeface="Times New Roman"/>
              </a:rPr>
              <a:t>sú</a:t>
            </a:r>
            <a:r>
              <a:rPr lang="en-US">
                <a:latin typeface="Tenorite"/>
                <a:cs typeface="Times New Roman"/>
              </a:rPr>
              <a:t> </a:t>
            </a:r>
            <a:r>
              <a:rPr lang="en-US" err="1">
                <a:latin typeface="Tenorite"/>
                <a:cs typeface="Times New Roman"/>
              </a:rPr>
              <a:t>prevažne</a:t>
            </a:r>
            <a:r>
              <a:rPr lang="en-US">
                <a:latin typeface="Tenorite"/>
                <a:cs typeface="Times New Roman"/>
              </a:rPr>
              <a:t> </a:t>
            </a:r>
            <a:r>
              <a:rPr lang="en-US" err="1">
                <a:latin typeface="Tenorite"/>
                <a:cs typeface="Times New Roman"/>
              </a:rPr>
              <a:t>typu</a:t>
            </a:r>
            <a:r>
              <a:rPr lang="en-US">
                <a:latin typeface="Tenorite"/>
                <a:cs typeface="Times New Roman"/>
              </a:rPr>
              <a:t> 1:N</a:t>
            </a:r>
            <a:endParaRPr lang="en-US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C11C744C-B709-22C3-F783-383E319F54E2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/>
              <a:t>9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/>
              <a:t>SELECT #1: </a:t>
            </a:r>
            <a:r>
              <a:rPr lang="en-US">
                <a:latin typeface="Tenorite"/>
                <a:ea typeface="Calibri"/>
                <a:cs typeface="Calibri"/>
              </a:rPr>
              <a:t>TOP 10 </a:t>
            </a:r>
            <a:r>
              <a:rPr lang="en-US" err="1">
                <a:latin typeface="Tenorite"/>
                <a:ea typeface="Calibri"/>
                <a:cs typeface="Calibri"/>
              </a:rPr>
              <a:t>piesní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podľa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priemernej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počúvanosti</a:t>
            </a:r>
            <a:endParaRPr lang="en-US" err="1">
              <a:latin typeface="Tenorite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3" y="2087561"/>
            <a:ext cx="2693306" cy="38905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err="1"/>
              <a:t>Všetky</a:t>
            </a:r>
            <a:r>
              <a:rPr lang="en-US"/>
              <a:t> </a:t>
            </a:r>
            <a:r>
              <a:rPr lang="en-US" err="1"/>
              <a:t>záznamy</a:t>
            </a:r>
            <a:r>
              <a:rPr lang="en-US"/>
              <a:t> z </a:t>
            </a:r>
            <a:r>
              <a:rPr lang="en-US" err="1"/>
              <a:t>jedného</a:t>
            </a:r>
            <a:r>
              <a:rPr lang="en-US"/>
              <a:t> </a:t>
            </a:r>
            <a:r>
              <a:rPr lang="en-US" err="1"/>
              <a:t>rádia</a:t>
            </a:r>
            <a:endParaRPr lang="en-US"/>
          </a:p>
          <a:p>
            <a:pPr marL="342900" indent="-342900">
              <a:buChar char="•"/>
            </a:pPr>
            <a:r>
              <a:rPr lang="en-US"/>
              <a:t>Priemer </a:t>
            </a:r>
            <a:r>
              <a:rPr lang="en-US" err="1"/>
              <a:t>použitý</a:t>
            </a:r>
            <a:r>
              <a:rPr lang="en-US"/>
              <a:t>, </a:t>
            </a:r>
            <a:r>
              <a:rPr lang="en-US" err="1"/>
              <a:t>pretože</a:t>
            </a:r>
            <a:r>
              <a:rPr lang="en-US"/>
              <a:t> </a:t>
            </a:r>
            <a:r>
              <a:rPr lang="en-US" err="1"/>
              <a:t>veľa</a:t>
            </a:r>
            <a:r>
              <a:rPr lang="en-US"/>
              <a:t> </a:t>
            </a:r>
            <a:r>
              <a:rPr lang="en-US" err="1"/>
              <a:t>piesní</a:t>
            </a:r>
            <a:r>
              <a:rPr lang="en-US"/>
              <a:t> </a:t>
            </a:r>
            <a:r>
              <a:rPr lang="en-US" err="1"/>
              <a:t>dosiahlo</a:t>
            </a:r>
            <a:r>
              <a:rPr lang="en-US"/>
              <a:t> </a:t>
            </a:r>
            <a:r>
              <a:rPr lang="en-US" err="1"/>
              <a:t>nastavený</a:t>
            </a:r>
            <a:r>
              <a:rPr lang="en-US"/>
              <a:t> strop </a:t>
            </a:r>
            <a:r>
              <a:rPr lang="en-US" err="1"/>
              <a:t>možných</a:t>
            </a:r>
            <a:r>
              <a:rPr lang="en-US"/>
              <a:t> </a:t>
            </a:r>
            <a:r>
              <a:rPr lang="en-US" err="1"/>
              <a:t>hodnôt</a:t>
            </a:r>
            <a:endParaRPr lang="en-US"/>
          </a:p>
          <a:p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C578551-591F-7457-DD33-F047094DD942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tx1">
                    <a:lumMod val="49000"/>
                    <a:lumOff val="51000"/>
                  </a:schemeClr>
                </a:solidFill>
              </a:rPr>
              <a:t>10</a:t>
            </a:r>
            <a:endParaRPr lang="sk-SK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pic>
        <p:nvPicPr>
          <p:cNvPr id="8" name="Content Placeholder 7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817557FD-6C3B-EC1E-7148-E6B38E4EF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81442" y="2087563"/>
            <a:ext cx="6472762" cy="38905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E1A4F-B6C0-67E5-CDD6-131C861FF581}"/>
              </a:ext>
            </a:extLst>
          </p:cNvPr>
          <p:cNvSpPr txBox="1"/>
          <p:nvPr/>
        </p:nvSpPr>
        <p:spPr>
          <a:xfrm>
            <a:off x="352567" y="4213746"/>
            <a:ext cx="402609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SELECT s.title, s.artists, ROUND(AVG(p.listener_count), 1) AS avg_listeners FROM play_session p JOIN song s ON p.song_session_id = s.song_session_id GROUP BY s.title, s.artists HAVING COUNT(*) &gt;= 5 ORDER BY avg_listeners DESC LIMIT 10;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C299-6E13-FCD2-F621-3337272E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D305-AF1D-A1FA-DBA1-DE7E0E8F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/>
              <a:t>SELECT #2: </a:t>
            </a:r>
            <a:r>
              <a:rPr lang="en-US">
                <a:latin typeface="Tenorite"/>
                <a:ea typeface="Calibri"/>
                <a:cs typeface="Calibri"/>
              </a:rPr>
              <a:t>TOP 10 </a:t>
            </a:r>
            <a:r>
              <a:rPr lang="en-US" err="1">
                <a:latin typeface="Tenorite"/>
                <a:ea typeface="Calibri"/>
                <a:cs typeface="Calibri"/>
              </a:rPr>
              <a:t>piesní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podľa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priemernej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počúvanosti</a:t>
            </a:r>
            <a:r>
              <a:rPr lang="en-US">
                <a:latin typeface="Tenorite"/>
                <a:ea typeface="Calibri"/>
                <a:cs typeface="Calibri"/>
              </a:rPr>
              <a:t> (</a:t>
            </a:r>
            <a:r>
              <a:rPr lang="en-US" err="1">
                <a:latin typeface="Tenorite"/>
                <a:ea typeface="Calibri"/>
                <a:cs typeface="Calibri"/>
              </a:rPr>
              <a:t>rádio</a:t>
            </a:r>
            <a:r>
              <a:rPr lang="en-US">
                <a:latin typeface="Tenorite"/>
                <a:ea typeface="Calibri"/>
                <a:cs typeface="Calibri"/>
              </a:rPr>
              <a:t> Melody)</a:t>
            </a:r>
            <a:endParaRPr lang="en-US" err="1">
              <a:latin typeface="Tenorite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C210E-E12E-59D2-C223-686903B0A7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3" y="2087561"/>
            <a:ext cx="2693306" cy="38905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err="1"/>
              <a:t>Záznamy</a:t>
            </a:r>
            <a:r>
              <a:rPr lang="en-US"/>
              <a:t> </a:t>
            </a:r>
            <a:r>
              <a:rPr lang="en-US" err="1"/>
              <a:t>len</a:t>
            </a:r>
            <a:r>
              <a:rPr lang="en-US"/>
              <a:t> pre </a:t>
            </a:r>
            <a:r>
              <a:rPr lang="en-US" err="1"/>
              <a:t>rádio</a:t>
            </a:r>
            <a:r>
              <a:rPr lang="en-US"/>
              <a:t> Melody</a:t>
            </a:r>
          </a:p>
          <a:p>
            <a:pPr marL="342900" indent="-342900">
              <a:buChar char="•"/>
            </a:pPr>
            <a:r>
              <a:rPr lang="en-US"/>
              <a:t>Podobné </a:t>
            </a:r>
            <a:r>
              <a:rPr lang="en-US" err="1"/>
              <a:t>výsledky</a:t>
            </a:r>
            <a:r>
              <a:rPr lang="en-US"/>
              <a:t> a </a:t>
            </a:r>
            <a:r>
              <a:rPr lang="en-US" err="1"/>
              <a:t>problémy</a:t>
            </a:r>
            <a:r>
              <a:rPr lang="en-US"/>
              <a:t> s </a:t>
            </a:r>
            <a:r>
              <a:rPr lang="en-US" err="1"/>
              <a:t>limitom</a:t>
            </a:r>
            <a:r>
              <a:rPr lang="en-US"/>
              <a:t> </a:t>
            </a:r>
            <a:r>
              <a:rPr lang="en-US" err="1"/>
              <a:t>počúvanosti</a:t>
            </a:r>
            <a:endParaRPr lang="en-US"/>
          </a:p>
          <a:p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8893157-B466-EC8A-DD83-848F1492F663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tx1">
                    <a:lumMod val="49000"/>
                    <a:lumOff val="51000"/>
                  </a:schemeClr>
                </a:solidFill>
              </a:rPr>
              <a:t>11</a:t>
            </a:r>
            <a:endParaRPr lang="sk-SK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pic>
        <p:nvPicPr>
          <p:cNvPr id="9" name="Picture 8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60F881A1-366D-EC7A-984B-3D9964D2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362" y="2086731"/>
            <a:ext cx="6473371" cy="3894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2FD732-8B6A-94A3-81F1-461FAB4F3A84}"/>
              </a:ext>
            </a:extLst>
          </p:cNvPr>
          <p:cNvSpPr txBox="1"/>
          <p:nvPr/>
        </p:nvSpPr>
        <p:spPr>
          <a:xfrm>
            <a:off x="338666" y="3840238"/>
            <a:ext cx="405190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SELECT s.title AS song_title, AVG(ps.listener_count) AS avg_listeners, COUNT(ps.id) AS measurements FROM play_session ps JOIN radio r ON ps.radio_id = r.id JOIN song s ON ps.song_session_id = s.song_session_id WHERE r.name = 'melody' GROUP BY s.song_session_id, s.title ORDER BY avg_listeners DESC LIMIT 10;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9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5AA38-A9B1-7A9F-7957-DF557DB5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BE799-2720-77C1-7027-4487FA31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/>
              <a:t>SELECT #3: </a:t>
            </a:r>
            <a:r>
              <a:rPr lang="en-US" err="1">
                <a:latin typeface="Tenorite"/>
                <a:ea typeface="Calibri"/>
                <a:cs typeface="Calibri"/>
              </a:rPr>
              <a:t>Počúvanosť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podľa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hodiny</a:t>
            </a:r>
            <a:r>
              <a:rPr lang="en-US">
                <a:latin typeface="Tenorite"/>
                <a:ea typeface="Calibri"/>
                <a:cs typeface="Calibri"/>
              </a:rPr>
              <a:t> </a:t>
            </a:r>
            <a:r>
              <a:rPr lang="en-US" err="1">
                <a:latin typeface="Tenorite"/>
                <a:ea typeface="Calibri"/>
                <a:cs typeface="Calibri"/>
              </a:rPr>
              <a:t>dňa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39B8E-F8A8-34FF-5A74-3AE55B9AAD9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3" y="2087561"/>
            <a:ext cx="2693306" cy="38905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err="1"/>
              <a:t>Priemerná</a:t>
            </a:r>
            <a:r>
              <a:rPr lang="en-US"/>
              <a:t> </a:t>
            </a:r>
            <a:r>
              <a:rPr lang="en-US" err="1"/>
              <a:t>počúvanosť</a:t>
            </a:r>
            <a:r>
              <a:rPr lang="en-US"/>
              <a:t> za </a:t>
            </a:r>
            <a:r>
              <a:rPr lang="en-US" err="1"/>
              <a:t>každú</a:t>
            </a:r>
            <a:r>
              <a:rPr lang="en-US"/>
              <a:t> </a:t>
            </a:r>
            <a:r>
              <a:rPr lang="en-US" err="1"/>
              <a:t>hodinu</a:t>
            </a:r>
            <a:r>
              <a:rPr lang="en-US"/>
              <a:t> v </a:t>
            </a:r>
            <a:r>
              <a:rPr lang="en-US" err="1"/>
              <a:t>dni</a:t>
            </a:r>
          </a:p>
          <a:p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C4893DE-E464-AC76-CB66-25CDC2089A85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tx1">
                    <a:lumMod val="49000"/>
                    <a:lumOff val="51000"/>
                  </a:schemeClr>
                </a:solidFill>
              </a:rPr>
              <a:t>12</a:t>
            </a:r>
            <a:endParaRPr lang="sk-SK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pic>
        <p:nvPicPr>
          <p:cNvPr id="3" name="Picture 2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2AA498F9-421F-5851-E62E-43AA7E334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552" y="2086731"/>
            <a:ext cx="6449181" cy="3894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A6F127-FE5A-0E50-AF56-5614C7B0246F}"/>
              </a:ext>
            </a:extLst>
          </p:cNvPr>
          <p:cNvSpPr txBox="1"/>
          <p:nvPr/>
        </p:nvSpPr>
        <p:spPr>
          <a:xfrm>
            <a:off x="810381" y="3429000"/>
            <a:ext cx="306009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SELECT</a:t>
            </a:r>
          </a:p>
          <a:p>
            <a:r>
              <a:rPr lang="en-US">
                <a:ea typeface="+mn-lt"/>
                <a:cs typeface="+mn-lt"/>
              </a:rPr>
              <a:t>    HOUR(</a:t>
            </a:r>
            <a:r>
              <a:rPr lang="en-US" err="1">
                <a:ea typeface="+mn-lt"/>
                <a:cs typeface="+mn-lt"/>
              </a:rPr>
              <a:t>p.recorded_at</a:t>
            </a:r>
            <a:r>
              <a:rPr lang="en-US">
                <a:ea typeface="+mn-lt"/>
                <a:cs typeface="+mn-lt"/>
              </a:rPr>
              <a:t>) AS hour,</a:t>
            </a:r>
          </a:p>
          <a:p>
            <a:r>
              <a:rPr lang="en-US">
                <a:ea typeface="+mn-lt"/>
                <a:cs typeface="+mn-lt"/>
              </a:rPr>
              <a:t>    ROUND(AVG(</a:t>
            </a:r>
            <a:r>
              <a:rPr lang="en-US" err="1">
                <a:ea typeface="+mn-lt"/>
                <a:cs typeface="+mn-lt"/>
              </a:rPr>
              <a:t>p.listener_count</a:t>
            </a:r>
            <a:r>
              <a:rPr lang="en-US">
                <a:ea typeface="+mn-lt"/>
                <a:cs typeface="+mn-lt"/>
              </a:rPr>
              <a:t>), 1) AS </a:t>
            </a:r>
            <a:r>
              <a:rPr lang="en-US" err="1">
                <a:ea typeface="+mn-lt"/>
                <a:cs typeface="+mn-lt"/>
              </a:rPr>
              <a:t>avg_listeners</a:t>
            </a:r>
          </a:p>
          <a:p>
            <a:r>
              <a:rPr lang="en-US">
                <a:ea typeface="+mn-lt"/>
                <a:cs typeface="+mn-lt"/>
              </a:rPr>
              <a:t>FROM </a:t>
            </a:r>
            <a:r>
              <a:rPr lang="en-US" err="1">
                <a:ea typeface="+mn-lt"/>
                <a:cs typeface="+mn-lt"/>
              </a:rPr>
              <a:t>play_session</a:t>
            </a:r>
            <a:r>
              <a:rPr lang="en-US">
                <a:ea typeface="+mn-lt"/>
                <a:cs typeface="+mn-lt"/>
              </a:rPr>
              <a:t> p</a:t>
            </a:r>
          </a:p>
          <a:p>
            <a:r>
              <a:rPr lang="en-US">
                <a:ea typeface="+mn-lt"/>
                <a:cs typeface="+mn-lt"/>
              </a:rPr>
              <a:t>GROUP BY hour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ORDER BY hour;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60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47E5D-7C7F-4117-1B09-1D8D6DC0A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EC96-A030-28A5-14D1-BE4A86EDD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/>
              <a:t>SELECT #4: </a:t>
            </a:r>
            <a:r>
              <a:rPr lang="en-US">
                <a:latin typeface="Tenorite"/>
                <a:ea typeface="Calibri"/>
                <a:cs typeface="Calibri"/>
              </a:rPr>
              <a:t>TOP 10 </a:t>
            </a:r>
            <a:r>
              <a:rPr lang="en-US" err="1">
                <a:latin typeface="Tenorite"/>
                <a:ea typeface="Calibri"/>
                <a:cs typeface="Calibri"/>
              </a:rPr>
              <a:t>priemerne</a:t>
            </a:r>
            <a:r>
              <a:rPr lang="en-US">
                <a:latin typeface="Tenorite"/>
                <a:ea typeface="Calibri"/>
                <a:cs typeface="Calibri"/>
              </a:rPr>
              <a:t> </a:t>
            </a:r>
            <a:r>
              <a:rPr lang="en-US" err="1">
                <a:latin typeface="Tenorite"/>
                <a:ea typeface="Calibri"/>
                <a:cs typeface="Calibri"/>
              </a:rPr>
              <a:t>najpočúvanejších</a:t>
            </a:r>
            <a:r>
              <a:rPr lang="en-US">
                <a:latin typeface="Tenorite"/>
                <a:ea typeface="Calibri"/>
                <a:cs typeface="Calibri"/>
              </a:rPr>
              <a:t> </a:t>
            </a:r>
            <a:r>
              <a:rPr lang="en-US" err="1">
                <a:latin typeface="Tenorite"/>
                <a:ea typeface="Calibri"/>
                <a:cs typeface="Calibri"/>
              </a:rPr>
              <a:t>žánrov</a:t>
            </a:r>
            <a:r>
              <a:rPr lang="en-US">
                <a:latin typeface="Tenorite"/>
                <a:ea typeface="Calibri"/>
                <a:cs typeface="Calibri"/>
              </a:rPr>
              <a:t>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6CC90-DC39-0F88-55BA-00E376F5E3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3" y="2087561"/>
            <a:ext cx="2693306" cy="38905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err="1"/>
              <a:t>Žánre</a:t>
            </a:r>
            <a:r>
              <a:rPr lang="en-US"/>
              <a:t> a avg_listeners</a:t>
            </a:r>
          </a:p>
          <a:p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0FE6A94-C220-A1AD-B71D-ABFE3E4E9F3B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tx1">
                    <a:lumMod val="49000"/>
                    <a:lumOff val="51000"/>
                  </a:schemeClr>
                </a:solidFill>
              </a:rPr>
              <a:t>13</a:t>
            </a:r>
            <a:endParaRPr lang="sk-SK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pic>
        <p:nvPicPr>
          <p:cNvPr id="5" name="Picture 4" descr="A graph of blue and white lines&#10;&#10;AI-generated content may be incorrect.">
            <a:extLst>
              <a:ext uri="{FF2B5EF4-FFF2-40B4-BE49-F238E27FC236}">
                <a16:creationId xmlns:a16="http://schemas.microsoft.com/office/drawing/2014/main" id="{ECAFB581-3B88-F518-12BA-269D871EE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554" y="2086731"/>
            <a:ext cx="6449181" cy="3894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18524C-8534-D8FC-8A6C-B6D367D16A24}"/>
              </a:ext>
            </a:extLst>
          </p:cNvPr>
          <p:cNvSpPr txBox="1"/>
          <p:nvPr/>
        </p:nvSpPr>
        <p:spPr>
          <a:xfrm>
            <a:off x="653143" y="3102428"/>
            <a:ext cx="335038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SELECT </a:t>
            </a:r>
            <a:r>
              <a:rPr lang="en-US" err="1"/>
              <a:t>g.genre</a:t>
            </a:r>
            <a:r>
              <a:rPr lang="en-US"/>
              <a:t>, ROUND(AVG(</a:t>
            </a:r>
            <a:r>
              <a:rPr lang="en-US" err="1"/>
              <a:t>p.listener_count</a:t>
            </a:r>
            <a:r>
              <a:rPr lang="en-US"/>
              <a:t>), 1) AS </a:t>
            </a:r>
            <a:r>
              <a:rPr lang="en-US" err="1"/>
              <a:t>avg_listeners</a:t>
            </a:r>
            <a:r>
              <a:rPr lang="en-US"/>
              <a:t> FROM </a:t>
            </a:r>
            <a:r>
              <a:rPr lang="en-US" err="1"/>
              <a:t>play_session</a:t>
            </a:r>
            <a:r>
              <a:rPr lang="en-US"/>
              <a:t> p JOIN song s ON </a:t>
            </a:r>
            <a:r>
              <a:rPr lang="en-US" err="1"/>
              <a:t>p.song_session_id</a:t>
            </a:r>
            <a:r>
              <a:rPr lang="en-US"/>
              <a:t> = </a:t>
            </a:r>
            <a:r>
              <a:rPr lang="en-US" err="1"/>
              <a:t>s.song_session_id</a:t>
            </a:r>
            <a:r>
              <a:rPr lang="en-US"/>
              <a:t> JOIN genre g ON </a:t>
            </a:r>
            <a:r>
              <a:rPr lang="en-US" err="1"/>
              <a:t>s.genre_id</a:t>
            </a:r>
            <a:r>
              <a:rPr lang="en-US"/>
              <a:t> = g.id GROUP BY </a:t>
            </a:r>
            <a:r>
              <a:rPr lang="en-US" err="1"/>
              <a:t>g.genre</a:t>
            </a:r>
            <a:r>
              <a:rPr lang="en-US"/>
              <a:t> ORDER BY </a:t>
            </a:r>
            <a:r>
              <a:rPr lang="en-US" err="1"/>
              <a:t>avg_listeners</a:t>
            </a:r>
            <a:r>
              <a:rPr lang="en-US"/>
              <a:t> DESC LIMIT 10;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5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354A1-4745-6C7C-1A2B-72FB1AE3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F009-4E17-0A20-23E3-75E80B80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/>
              <a:t>SELECT #5: </a:t>
            </a:r>
            <a:r>
              <a:rPr lang="en-US">
                <a:ea typeface="+mj-lt"/>
                <a:cs typeface="+mj-lt"/>
              </a:rPr>
              <a:t>Drill-down – </a:t>
            </a:r>
            <a:r>
              <a:rPr lang="en-US" err="1">
                <a:ea typeface="+mj-lt"/>
                <a:cs typeface="+mj-lt"/>
              </a:rPr>
              <a:t>piesne</a:t>
            </a:r>
            <a:r>
              <a:rPr lang="en-US">
                <a:ea typeface="+mj-lt"/>
                <a:cs typeface="+mj-lt"/>
              </a:rPr>
              <a:t> pre </a:t>
            </a:r>
            <a:r>
              <a:rPr lang="en-US" err="1">
                <a:ea typeface="+mj-lt"/>
                <a:cs typeface="+mj-lt"/>
              </a:rPr>
              <a:t>rádio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>
                <a:latin typeface="Tenorite"/>
                <a:ea typeface="Calibri"/>
                <a:cs typeface="Calibri"/>
              </a:rPr>
              <a:t>Melody 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EDAB65F-D805-9C0E-A96C-E704405CCBAB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tx1">
                    <a:lumMod val="49000"/>
                    <a:lumOff val="51000"/>
                  </a:schemeClr>
                </a:solidFill>
              </a:rPr>
              <a:t>14</a:t>
            </a:r>
            <a:endParaRPr lang="sk-SK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53838-FB22-8D5F-F2B2-3A9CD5025BFA}"/>
              </a:ext>
            </a:extLst>
          </p:cNvPr>
          <p:cNvSpPr txBox="1"/>
          <p:nvPr/>
        </p:nvSpPr>
        <p:spPr>
          <a:xfrm>
            <a:off x="653143" y="3102428"/>
            <a:ext cx="335038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enorite"/>
              </a:rPr>
              <a:t>SELECT </a:t>
            </a:r>
            <a:r>
              <a:rPr lang="en-US" err="1">
                <a:latin typeface="Tenorite"/>
              </a:rPr>
              <a:t>s.title</a:t>
            </a:r>
            <a:r>
              <a:rPr lang="en-US">
                <a:latin typeface="Tenorite"/>
              </a:rPr>
              <a:t> AS category, AVG(</a:t>
            </a:r>
            <a:r>
              <a:rPr lang="en-US" err="1">
                <a:latin typeface="Tenorite"/>
              </a:rPr>
              <a:t>ps.listener_count</a:t>
            </a:r>
            <a:r>
              <a:rPr lang="en-US">
                <a:latin typeface="Tenorite"/>
              </a:rPr>
              <a:t>) AS value FROM </a:t>
            </a:r>
            <a:r>
              <a:rPr lang="en-US" err="1">
                <a:latin typeface="Tenorite"/>
              </a:rPr>
              <a:t>play_session</a:t>
            </a:r>
            <a:r>
              <a:rPr lang="en-US">
                <a:latin typeface="Tenorite"/>
              </a:rPr>
              <a:t> </a:t>
            </a:r>
            <a:r>
              <a:rPr lang="en-US" err="1">
                <a:latin typeface="Tenorite"/>
              </a:rPr>
              <a:t>ps</a:t>
            </a:r>
            <a:r>
              <a:rPr lang="en-US">
                <a:latin typeface="Tenorite"/>
              </a:rPr>
              <a:t> JOIN song s ON </a:t>
            </a:r>
            <a:r>
              <a:rPr lang="en-US" err="1">
                <a:latin typeface="Tenorite"/>
              </a:rPr>
              <a:t>ps.song_session_id</a:t>
            </a:r>
            <a:r>
              <a:rPr lang="en-US">
                <a:latin typeface="Tenorite"/>
              </a:rPr>
              <a:t> = </a:t>
            </a:r>
            <a:r>
              <a:rPr lang="en-US" err="1">
                <a:latin typeface="Tenorite"/>
              </a:rPr>
              <a:t>s.song_session_id</a:t>
            </a:r>
            <a:r>
              <a:rPr lang="en-US">
                <a:latin typeface="Tenorite"/>
              </a:rPr>
              <a:t> JOIN radio r ON </a:t>
            </a:r>
            <a:r>
              <a:rPr lang="en-US" err="1">
                <a:latin typeface="Tenorite"/>
              </a:rPr>
              <a:t>ps.radio_id</a:t>
            </a:r>
            <a:r>
              <a:rPr lang="en-US">
                <a:latin typeface="Tenorite"/>
              </a:rPr>
              <a:t> = r.id WHERE r.name = 'melody' GROUP BY </a:t>
            </a:r>
            <a:r>
              <a:rPr lang="en-US" err="1">
                <a:latin typeface="Tenorite"/>
              </a:rPr>
              <a:t>s.title</a:t>
            </a:r>
            <a:r>
              <a:rPr lang="en-US">
                <a:latin typeface="Tenorite"/>
              </a:rPr>
              <a:t> LIMIT 10; </a:t>
            </a:r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pic>
        <p:nvPicPr>
          <p:cNvPr id="9" name="Picture 8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13EC9379-9B2B-6C1E-58CC-FB9B418D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315" y="2110921"/>
            <a:ext cx="6352419" cy="386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75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B41F4-DD08-570E-4359-7F5FE54B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F8D4-5DC6-75B6-2BAB-D7909B68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/>
              <a:t>SELECT #6: </a:t>
            </a:r>
            <a:r>
              <a:rPr lang="en-US">
                <a:ea typeface="+mj-lt"/>
                <a:cs typeface="+mj-lt"/>
              </a:rPr>
              <a:t>Roll-up – </a:t>
            </a:r>
            <a:r>
              <a:rPr lang="en-US" err="1">
                <a:ea typeface="+mj-lt"/>
                <a:cs typeface="+mj-lt"/>
              </a:rPr>
              <a:t>priemerná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počúvanosť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podľa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rádia</a:t>
            </a:r>
            <a:endParaRPr lang="en-US" err="1">
              <a:latin typeface="Tenorite"/>
              <a:ea typeface="Calibri"/>
              <a:cs typeface="Calibri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0DDDD7C-908C-87FE-ADC6-EDAC88A5CD08}"/>
              </a:ext>
            </a:extLst>
          </p:cNvPr>
          <p:cNvSpPr txBox="1">
            <a:spLocks/>
          </p:cNvSpPr>
          <p:nvPr/>
        </p:nvSpPr>
        <p:spPr>
          <a:xfrm>
            <a:off x="10277117" y="6226339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tx1">
                    <a:lumMod val="49000"/>
                    <a:lumOff val="51000"/>
                  </a:schemeClr>
                </a:solidFill>
              </a:rPr>
              <a:t>15</a:t>
            </a:r>
            <a:endParaRPr lang="sk-SK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B86D9-9EF9-8111-8D76-C9B41245AFCF}"/>
              </a:ext>
            </a:extLst>
          </p:cNvPr>
          <p:cNvSpPr txBox="1"/>
          <p:nvPr/>
        </p:nvSpPr>
        <p:spPr>
          <a:xfrm>
            <a:off x="653143" y="3102428"/>
            <a:ext cx="335038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SELECT</a:t>
            </a:r>
          </a:p>
          <a:p>
            <a:r>
              <a:rPr lang="en-US">
                <a:ea typeface="+mn-lt"/>
                <a:cs typeface="+mn-lt"/>
              </a:rPr>
              <a:t>    r.name AS category,</a:t>
            </a:r>
          </a:p>
          <a:p>
            <a:r>
              <a:rPr lang="en-US">
                <a:ea typeface="+mn-lt"/>
                <a:cs typeface="+mn-lt"/>
              </a:rPr>
              <a:t>    AVG(</a:t>
            </a:r>
            <a:r>
              <a:rPr lang="en-US" err="1">
                <a:ea typeface="+mn-lt"/>
                <a:cs typeface="+mn-lt"/>
              </a:rPr>
              <a:t>ps.listener_count</a:t>
            </a:r>
            <a:r>
              <a:rPr lang="en-US">
                <a:ea typeface="+mn-lt"/>
                <a:cs typeface="+mn-lt"/>
              </a:rPr>
              <a:t>) AS value</a:t>
            </a:r>
          </a:p>
          <a:p>
            <a:r>
              <a:rPr lang="en-US">
                <a:ea typeface="+mn-lt"/>
                <a:cs typeface="+mn-lt"/>
              </a:rPr>
              <a:t>FROM </a:t>
            </a:r>
            <a:r>
              <a:rPr lang="en-US" err="1">
                <a:ea typeface="+mn-lt"/>
                <a:cs typeface="+mn-lt"/>
              </a:rPr>
              <a:t>play_session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ps</a:t>
            </a:r>
          </a:p>
          <a:p>
            <a:r>
              <a:rPr lang="en-US">
                <a:ea typeface="+mn-lt"/>
                <a:cs typeface="+mn-lt"/>
              </a:rPr>
              <a:t>JOIN radio r ON </a:t>
            </a:r>
            <a:r>
              <a:rPr lang="en-US" err="1">
                <a:ea typeface="+mn-lt"/>
                <a:cs typeface="+mn-lt"/>
              </a:rPr>
              <a:t>ps.radio_id</a:t>
            </a:r>
            <a:r>
              <a:rPr lang="en-US">
                <a:ea typeface="+mn-lt"/>
                <a:cs typeface="+mn-lt"/>
              </a:rPr>
              <a:t> = r.id</a:t>
            </a:r>
          </a:p>
          <a:p>
            <a:r>
              <a:rPr lang="en-US">
                <a:ea typeface="+mn-lt"/>
                <a:cs typeface="+mn-lt"/>
              </a:rPr>
              <a:t>GROUP BY r.name;</a:t>
            </a:r>
          </a:p>
          <a:p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1CBEED86-DDB7-E114-D302-A201B0E0D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505" y="2123016"/>
            <a:ext cx="6328229" cy="385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24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sk-SK"/>
              <a:t>Ďakujeme za pozornosť!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Application>Microsoft Office PowerPoint</Application>
  <PresentationFormat>Širokouhlá</PresentationFormat>
  <Slides>16</Slides>
  <Notes>16</Notes>
  <HiddenSlides>0</HiddenSlide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16</vt:i4>
      </vt:variant>
    </vt:vector>
  </HeadingPairs>
  <TitlesOfParts>
    <vt:vector size="17" baseType="lpstr">
      <vt:lpstr>Custom</vt:lpstr>
      <vt:lpstr>Zadanie DataEng – rádio Melody</vt:lpstr>
      <vt:lpstr>Obsah</vt:lpstr>
      <vt:lpstr>Nazbierané dáta</vt:lpstr>
      <vt:lpstr>Datalake</vt:lpstr>
      <vt:lpstr>Informačný balíček</vt:lpstr>
      <vt:lpstr>STAR Schéma</vt:lpstr>
      <vt:lpstr>Štruktúra záznamov</vt:lpstr>
      <vt:lpstr>Obohatenie záznamov</vt:lpstr>
      <vt:lpstr>Databáza</vt:lpstr>
      <vt:lpstr>SELECT #1: TOP 10 piesní podľa priemernej počúvanosti</vt:lpstr>
      <vt:lpstr>SELECT #2: TOP 10 piesní podľa priemernej počúvanosti (rádio Melody)</vt:lpstr>
      <vt:lpstr>SELECT #3: Počúvanosť podľa hodiny dňa</vt:lpstr>
      <vt:lpstr>SELECT #4: TOP 10 priemerne najpočúvanejších žánrov </vt:lpstr>
      <vt:lpstr>SELECT #5: Drill-down – piesne pre rádio Melody </vt:lpstr>
      <vt:lpstr>SELECT #6: Roll-up – priemerná počúvanosť podľa rádia</vt:lpstr>
      <vt:lpstr>Ďakujeme za pozornosť!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Pálenik</dc:creator>
  <cp:revision>3</cp:revision>
  <dcterms:created xsi:type="dcterms:W3CDTF">2025-12-12T15:41:33Z</dcterms:created>
  <dcterms:modified xsi:type="dcterms:W3CDTF">2025-12-15T12:38:44Z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